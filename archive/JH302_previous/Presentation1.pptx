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9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3BB04-9DFB-8F1A-4B42-878362FF0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72D02-1CA2-02C0-9D90-8E330DFDD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021CC-03F7-9BE7-1FAA-0B227EB9A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83776-1718-468B-A495-1E5BA271218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10924-25A9-3389-8CE7-12F9B6DD2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D283B-9DAE-DF8F-7DBE-474A47E6D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5B4E0-E0C8-4137-AAE1-6741F9127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40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5484B-75D7-6A85-B928-FF4CA34CA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993E5-960D-2B77-6C5E-B6B16D08E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BE71-6799-8115-0E01-C6B3B3F49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83776-1718-468B-A495-1E5BA271218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F7185-E925-217E-9822-E278B4C9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CFB84-B7FE-6AB7-13DE-2252B669E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5B4E0-E0C8-4137-AAE1-6741F9127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82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92A2A-53DC-D7E3-6F97-32E37FFC2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0A79E-416B-FADF-E7BC-C0617C608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C1F1B-83AB-00C4-76A1-299F7EB2C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83776-1718-468B-A495-1E5BA271218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7451D-94DA-8389-5C67-05742356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8E3DB-E45E-242D-92F9-2CA6047B5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5B4E0-E0C8-4137-AAE1-6741F9127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15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69E6F-10FB-8B97-3278-FC1C3871C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62CC-E121-E1FC-E815-33A1B2A8EC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C80D4-AF37-DC76-AF2B-BD1E36092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B4CD4-8CF9-BC00-CBA6-D030F1651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83776-1718-468B-A495-1E5BA271218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415EE-F59A-2D3B-4B0C-DFBD8A18D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2FB31-C132-56B7-9CF8-4A3DEEC7E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5B4E0-E0C8-4137-AAE1-6741F9127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7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2B03B-7117-2243-211B-9B3435385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AF962-AC40-BBCA-585D-95A52D73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6CD474-6C34-A33D-B89E-82D08F672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478712-BD0F-5130-1FAC-B872AE2FA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D540ED-AC15-8D0E-ED1D-B362696A38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197A5-340D-B368-E00D-996DCD307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83776-1718-468B-A495-1E5BA271218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541043-F09E-7D30-63A8-D6082FDA9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FCFE18-1069-A5C9-FA8D-05C2E4CB4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5B4E0-E0C8-4137-AAE1-6741F9127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846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49048-CADB-AD89-0F42-998E621AC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C5877D-74B6-B110-7A31-C20128E0D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83776-1718-468B-A495-1E5BA271218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C01843-47C4-456F-2463-CCA0CD4AC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28225-27EF-73D7-69A8-943EE0F7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5B4E0-E0C8-4137-AAE1-6741F9127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02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4DD233-F8E2-2392-B742-86B921083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83776-1718-468B-A495-1E5BA271218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AC8F70-FA45-D07C-ECDF-DF71AD38B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C43DB-82F2-6EEF-08EB-55D9EB482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5B4E0-E0C8-4137-AAE1-6741F9127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94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47CB7-FB8F-48AB-8C5A-E7EA522A8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FF655-E5E3-CAE4-7BA6-9157F185F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F64A5-C8BF-7948-1154-2CA731BB0D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A0A27-5D33-7A9A-09A0-906020C7F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83776-1718-468B-A495-1E5BA271218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D432C-88E5-8E06-D667-4FC53A0BB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B417C-054B-3733-30E6-33A9C34A5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5B4E0-E0C8-4137-AAE1-6741F9127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78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940E-BF02-BBE6-C38B-D026CE3AE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011C13-DAE5-6C20-ED21-37A747E1DE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32AB5E-2EEF-F49A-633E-16FCD65E5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B8A38-1F98-920A-4B08-5828FD3D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83776-1718-468B-A495-1E5BA271218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B3B3D-F404-4973-B2B3-7EEDFB504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6E8E9-FAF8-66C2-2AF5-7A3EFBFBB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5B4E0-E0C8-4137-AAE1-6741F9127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5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86033-BA6B-444A-CB50-ED081FC9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ABC87D-0C00-67E7-50FD-2B78EA2F3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8550A-E3F4-2AFA-5F9E-0E6B138E8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83776-1718-468B-A495-1E5BA271218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880ED-9894-17F9-1324-9A29898CA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09D07-C93A-F3EA-E9A6-C323FB1D5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5B4E0-E0C8-4137-AAE1-6741F9127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48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697C1E-1B1C-3B9A-3EC3-6B450F61A8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5F4D00-6A89-863E-26F5-19615B168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9040C-952B-6322-CD33-BE1E98C3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83776-1718-468B-A495-1E5BA271218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778D8-9520-E4C2-B159-B265635CD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66ACF-9CA9-2C0B-2033-E77E41447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5B4E0-E0C8-4137-AAE1-6741F9127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72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B2E3DE-088A-98EF-12FC-9C279B18A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3CDDB-DF22-C8BD-33DA-454E6CF2A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E9810-C48C-3152-B1BB-6B95B9D0B6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C83776-1718-468B-A495-1E5BA271218E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3A18C-05D3-C84D-049B-5A944AC58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E949A-9BED-C864-71A4-25754F7B84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5B4E0-E0C8-4137-AAE1-6741F9127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11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7B426C-8D34-20A3-7BA7-1CD83C130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485" y="-152653"/>
            <a:ext cx="6306430" cy="6325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137B40-89F3-ED52-10C1-212B1578D32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1713485" y="5532348"/>
            <a:ext cx="6325483" cy="63064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5B9A65-4050-0729-4EEC-7728CAB72E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1000"/>
          </a:blip>
          <a:stretch>
            <a:fillRect/>
          </a:stretch>
        </p:blipFill>
        <p:spPr>
          <a:xfrm>
            <a:off x="7364595" y="-176479"/>
            <a:ext cx="6296904" cy="634453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AE1FEC4-E1BA-54D2-D302-54F53121A3B5}"/>
              </a:ext>
            </a:extLst>
          </p:cNvPr>
          <p:cNvCxnSpPr/>
          <p:nvPr/>
        </p:nvCxnSpPr>
        <p:spPr>
          <a:xfrm>
            <a:off x="4421529" y="-152653"/>
            <a:ext cx="0" cy="63207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3A4C711-5B03-39E0-C6A7-A93BF68F000B}"/>
              </a:ext>
            </a:extLst>
          </p:cNvPr>
          <p:cNvCxnSpPr>
            <a:cxnSpLocks/>
          </p:cNvCxnSpPr>
          <p:nvPr/>
        </p:nvCxnSpPr>
        <p:spPr>
          <a:xfrm>
            <a:off x="4662419" y="5532348"/>
            <a:ext cx="0" cy="6357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754181-9546-A26C-FAFF-D86D8E91F0A7}"/>
              </a:ext>
            </a:extLst>
          </p:cNvPr>
          <p:cNvCxnSpPr>
            <a:cxnSpLocks/>
          </p:cNvCxnSpPr>
          <p:nvPr/>
        </p:nvCxnSpPr>
        <p:spPr>
          <a:xfrm flipH="1">
            <a:off x="1713485" y="2263140"/>
            <a:ext cx="63064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EA77FE1-DAD0-D627-36B0-4F100E62E4F0}"/>
              </a:ext>
            </a:extLst>
          </p:cNvPr>
          <p:cNvCxnSpPr>
            <a:cxnSpLocks/>
          </p:cNvCxnSpPr>
          <p:nvPr/>
        </p:nvCxnSpPr>
        <p:spPr>
          <a:xfrm flipH="1">
            <a:off x="7364595" y="2415540"/>
            <a:ext cx="655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7D8BC4CA-D26A-784B-8EC9-00D18766FC2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7379835" y="5477096"/>
            <a:ext cx="6325483" cy="635406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F0BE2D6-F781-D7E8-01FF-C58E2E5CAA74}"/>
              </a:ext>
            </a:extLst>
          </p:cNvPr>
          <p:cNvSpPr txBox="1"/>
          <p:nvPr/>
        </p:nvSpPr>
        <p:spPr>
          <a:xfrm>
            <a:off x="917636" y="5665536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331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1831FA-E8DD-3A89-835E-928480BC8AE7}"/>
              </a:ext>
            </a:extLst>
          </p:cNvPr>
          <p:cNvSpPr txBox="1"/>
          <p:nvPr/>
        </p:nvSpPr>
        <p:spPr>
          <a:xfrm>
            <a:off x="7414775" y="1970009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4D8855-6592-0704-E44B-3DBC7A9BAE39}"/>
              </a:ext>
            </a:extLst>
          </p:cNvPr>
          <p:cNvSpPr txBox="1"/>
          <p:nvPr/>
        </p:nvSpPr>
        <p:spPr>
          <a:xfrm>
            <a:off x="-96855" y="3798580"/>
            <a:ext cx="2028982" cy="950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Overlap seems variable from section to section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2C469E-55EE-813E-698A-7F37B467C783}"/>
              </a:ext>
            </a:extLst>
          </p:cNvPr>
          <p:cNvSpPr txBox="1"/>
          <p:nvPr/>
        </p:nvSpPr>
        <p:spPr>
          <a:xfrm>
            <a:off x="-1273340" y="308468"/>
            <a:ext cx="61986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Step 1</a:t>
            </a:r>
          </a:p>
          <a:p>
            <a:r>
              <a:rPr lang="en-US" dirty="0"/>
              <a:t>Stitching of HYB FOVs to create section image</a:t>
            </a:r>
          </a:p>
          <a:p>
            <a:endParaRPr lang="en-US" dirty="0"/>
          </a:p>
          <a:p>
            <a:r>
              <a:rPr lang="en-US" dirty="0"/>
              <a:t>This will provide </a:t>
            </a:r>
            <a:r>
              <a:rPr lang="en-US" dirty="0" err="1"/>
              <a:t>cellmasks</a:t>
            </a:r>
            <a:r>
              <a:rPr lang="en-US" dirty="0"/>
              <a:t> in the raw HYB</a:t>
            </a:r>
          </a:p>
          <a:p>
            <a:endParaRPr lang="en-US" dirty="0"/>
          </a:p>
          <a:p>
            <a:r>
              <a:rPr lang="en-US" strike="sngStrike" dirty="0" err="1"/>
              <a:t>test_align_in_situ_stack.m</a:t>
            </a:r>
            <a:endParaRPr lang="en-US" strike="sngStrike" dirty="0"/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Use this script to stitch HYB</a:t>
            </a:r>
          </a:p>
          <a:p>
            <a:r>
              <a:rPr lang="en-US" dirty="0" err="1">
                <a:solidFill>
                  <a:srgbClr val="00B050"/>
                </a:solidFill>
              </a:rPr>
              <a:t>test_align_in_situ_generate_stitchedHYB.m</a:t>
            </a:r>
            <a:endParaRPr lang="en-US" dirty="0">
              <a:solidFill>
                <a:srgbClr val="00B050"/>
              </a:solidFill>
            </a:endParaRPr>
          </a:p>
          <a:p>
            <a:endParaRPr lang="en-US" dirty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952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19025-21C6-51AA-062D-AD3A4C998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606347E-C46D-2A6E-6E18-43071FDA0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889" y="442203"/>
            <a:ext cx="5534797" cy="59444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AD3F78-2903-DD9A-BDB9-B3909F7BA1E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7000"/>
          </a:blip>
          <a:stretch>
            <a:fillRect/>
          </a:stretch>
        </p:blipFill>
        <p:spPr>
          <a:xfrm rot="374698">
            <a:off x="4055943" y="643375"/>
            <a:ext cx="5506218" cy="59253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FA6866-03F1-52AE-7645-C6807D750F09}"/>
              </a:ext>
            </a:extLst>
          </p:cNvPr>
          <p:cNvSpPr txBox="1"/>
          <p:nvPr/>
        </p:nvSpPr>
        <p:spPr>
          <a:xfrm>
            <a:off x="478714" y="338798"/>
            <a:ext cx="304653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Step 2</a:t>
            </a:r>
          </a:p>
          <a:p>
            <a:r>
              <a:rPr lang="en-US" dirty="0"/>
              <a:t>Align the raw section images</a:t>
            </a:r>
          </a:p>
          <a:p>
            <a:endParaRPr lang="en-US" dirty="0"/>
          </a:p>
          <a:p>
            <a:r>
              <a:rPr lang="en-US" dirty="0"/>
              <a:t>This will create a 3D volume for the in situ data, as well as cell masks</a:t>
            </a:r>
          </a:p>
          <a:p>
            <a:endParaRPr lang="en-US" dirty="0"/>
          </a:p>
          <a:p>
            <a:r>
              <a:rPr lang="en-US" dirty="0"/>
              <a:t>It seems only a </a:t>
            </a:r>
            <a:r>
              <a:rPr lang="en-US" b="1" dirty="0"/>
              <a:t>rotation</a:t>
            </a:r>
            <a:r>
              <a:rPr lang="en-US" dirty="0"/>
              <a:t> and </a:t>
            </a:r>
            <a:r>
              <a:rPr lang="en-US" b="1" dirty="0"/>
              <a:t>translation</a:t>
            </a:r>
            <a:r>
              <a:rPr lang="en-US" dirty="0"/>
              <a:t> is needed</a:t>
            </a:r>
          </a:p>
          <a:p>
            <a:endParaRPr lang="en-US" dirty="0"/>
          </a:p>
          <a:p>
            <a:r>
              <a:rPr lang="en-US" dirty="0"/>
              <a:t>Try manual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7AF861-CB2C-1080-3307-1D264B0AA160}"/>
              </a:ext>
            </a:extLst>
          </p:cNvPr>
          <p:cNvSpPr txBox="1"/>
          <p:nvPr/>
        </p:nvSpPr>
        <p:spPr>
          <a:xfrm>
            <a:off x="4515657" y="471367"/>
            <a:ext cx="316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Pos 1 section 1 and 2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062E1E6-013B-8718-529F-5729183AC666}"/>
              </a:ext>
            </a:extLst>
          </p:cNvPr>
          <p:cNvCxnSpPr/>
          <p:nvPr/>
        </p:nvCxnSpPr>
        <p:spPr>
          <a:xfrm flipH="1">
            <a:off x="6735096" y="3229980"/>
            <a:ext cx="678426" cy="4424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888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7324B-55E0-A234-A1C8-6EB11C9C8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88A18B-066B-BEB7-E4E4-F7063BD43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673" y="0"/>
            <a:ext cx="5840654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709EE2-9F55-14FE-06B7-AA1841A907D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2956547" y="673794"/>
            <a:ext cx="5834283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DE41D6-DBED-05EA-778E-BE05EDD6D3B6}"/>
              </a:ext>
            </a:extLst>
          </p:cNvPr>
          <p:cNvSpPr txBox="1"/>
          <p:nvPr/>
        </p:nvSpPr>
        <p:spPr>
          <a:xfrm>
            <a:off x="-82364" y="471367"/>
            <a:ext cx="3046531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Step 2</a:t>
            </a:r>
          </a:p>
          <a:p>
            <a:r>
              <a:rPr lang="en-US" dirty="0"/>
              <a:t>Align the raw section images</a:t>
            </a:r>
          </a:p>
          <a:p>
            <a:endParaRPr lang="en-US" dirty="0"/>
          </a:p>
          <a:p>
            <a:r>
              <a:rPr lang="en-US" dirty="0"/>
              <a:t>This will create a 3D volume for the in situ data, as well as cell masks</a:t>
            </a:r>
          </a:p>
          <a:p>
            <a:endParaRPr lang="en-US" dirty="0"/>
          </a:p>
          <a:p>
            <a:r>
              <a:rPr lang="en-US" dirty="0"/>
              <a:t>It seems only a </a:t>
            </a:r>
            <a:r>
              <a:rPr lang="en-US" b="1" dirty="0"/>
              <a:t>rotation</a:t>
            </a:r>
            <a:r>
              <a:rPr lang="en-US" dirty="0"/>
              <a:t> and </a:t>
            </a:r>
            <a:r>
              <a:rPr lang="en-US" b="1" dirty="0"/>
              <a:t>translation</a:t>
            </a:r>
            <a:r>
              <a:rPr lang="en-US" dirty="0"/>
              <a:t> is needed</a:t>
            </a:r>
          </a:p>
          <a:p>
            <a:endParaRPr lang="en-US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Try manual ?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00B050"/>
                </a:solidFill>
              </a:rPr>
              <a:t>Stitch raw image sections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HYB + cell mask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Save all sections in cell array -&gt; section image are a fixed size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00B050"/>
                </a:solidFill>
              </a:rPr>
              <a:t>For each section output the HYB + cell masks as TIFFs (color)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00B050"/>
                </a:solidFill>
              </a:rPr>
              <a:t> In photoshop or PPT, manually try to align adjacent sections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only rotation and translation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Find optimal angle and offset (in units of pixels)-&gt;save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BDE98-085E-A8D3-B0CC-F5D206A11677}"/>
              </a:ext>
            </a:extLst>
          </p:cNvPr>
          <p:cNvSpPr txBox="1"/>
          <p:nvPr/>
        </p:nvSpPr>
        <p:spPr>
          <a:xfrm>
            <a:off x="4515657" y="471367"/>
            <a:ext cx="316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Pos 1 section 1 and 2</a:t>
            </a:r>
          </a:p>
        </p:txBody>
      </p:sp>
    </p:spTree>
    <p:extLst>
      <p:ext uri="{BB962C8B-B14F-4D97-AF65-F5344CB8AC3E}">
        <p14:creationId xmlns:p14="http://schemas.microsoft.com/office/powerpoint/2010/main" val="3737426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DC8AB0-0635-5BD1-A7ED-1DEBE557ECA9}"/>
              </a:ext>
            </a:extLst>
          </p:cNvPr>
          <p:cNvSpPr txBox="1"/>
          <p:nvPr/>
        </p:nvSpPr>
        <p:spPr>
          <a:xfrm>
            <a:off x="478714" y="338798"/>
            <a:ext cx="30465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Step 3</a:t>
            </a:r>
          </a:p>
          <a:p>
            <a:r>
              <a:rPr lang="en-US" dirty="0"/>
              <a:t>Align the in situ volume to in vivo volume</a:t>
            </a:r>
          </a:p>
          <a:p>
            <a:endParaRPr lang="en-US" dirty="0"/>
          </a:p>
          <a:p>
            <a:r>
              <a:rPr lang="en-US" dirty="0"/>
              <a:t>Harris paper</a:t>
            </a:r>
          </a:p>
          <a:p>
            <a:r>
              <a:rPr lang="en-US" dirty="0"/>
              <a:t>Jerry Chen paper</a:t>
            </a:r>
          </a:p>
        </p:txBody>
      </p:sp>
    </p:spTree>
    <p:extLst>
      <p:ext uri="{BB962C8B-B14F-4D97-AF65-F5344CB8AC3E}">
        <p14:creationId xmlns:p14="http://schemas.microsoft.com/office/powerpoint/2010/main" val="1327886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220</Words>
  <Application>Microsoft Office PowerPoint</Application>
  <PresentationFormat>Widescreen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Nuo Li, Ph.D.</dc:creator>
  <cp:lastModifiedBy>Nuo Li, Ph.D.</cp:lastModifiedBy>
  <cp:revision>13</cp:revision>
  <dcterms:created xsi:type="dcterms:W3CDTF">2025-05-20T12:38:07Z</dcterms:created>
  <dcterms:modified xsi:type="dcterms:W3CDTF">2025-06-30T20:12:27Z</dcterms:modified>
</cp:coreProperties>
</file>